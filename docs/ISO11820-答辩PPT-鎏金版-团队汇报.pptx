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8B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60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4864" cy="2560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建筑材料不燃性实验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自动化测控系统研究与实现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206240"/>
            <a:ext cx="320040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480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.NET 8  ·  WinForms  ·  SQLite  ·  OxyPlot  ·  EPPlus  ·  MathNet.Numerics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577840"/>
            <a:ext cx="10058400" cy="330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西南石油大学 · 计算机与软件学院 · 软件工程202</a:t>
            </a:r>
            <a:r>
              <a:rPr lang="en-US"/>
              <a:t>4</a:t>
            </a:r>
            <a:r>
              <a:t>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1645920"/>
            <a:ext cx="2103120" cy="3200400"/>
          </a:xfrm>
          <a:prstGeom prst="roundRect">
            <a:avLst/>
          </a:prstGeom>
          <a:solidFill>
            <a:srgbClr val="15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1200" y="1645920"/>
            <a:ext cx="21031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19202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9A84C"/>
                </a:solidFill>
                <a:latin typeface="Arial" panose="020B0604020202020204"/>
              </a:defRPr>
            </a:pPr>
            <a:r>
              <a:t>ISO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22402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E8D5A3"/>
                </a:solidFill>
                <a:latin typeface="Arial" panose="020B0604020202020204"/>
              </a:defRPr>
            </a:pPr>
            <a:r>
              <a:t>11820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66960" y="2926080"/>
            <a:ext cx="1371600" cy="18288"/>
          </a:xfrm>
          <a:prstGeom prst="rect">
            <a:avLst/>
          </a:prstGeom>
          <a:solidFill>
            <a:srgbClr val="8B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3108960"/>
            <a:ext cx="1737360" cy="5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8B7D3C"/>
                </a:solidFill>
                <a:latin typeface="Arial" panose="020B0604020202020204"/>
              </a:defRPr>
            </a:pPr>
            <a:r>
              <a:t>202</a:t>
            </a:r>
            <a:r>
              <a:rPr lang="en-US"/>
              <a:t>6</a:t>
            </a:r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9784080" y="374903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B7D3C"/>
                </a:solidFill>
                <a:latin typeface="Arial" panose="020B0604020202020204"/>
              </a:defRPr>
            </a:pPr>
            <a:r>
              <a:t>Non-combustibility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182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汇报人：罗凌岚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C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54864" cy="777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汇报大纲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046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0" y="6217920"/>
            <a:ext cx="45720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384048" cy="384048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4708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C0C1E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82880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研究背景与意义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12140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研究背景、国内外现状、研究目标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28800"/>
            <a:ext cx="384048" cy="384048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84708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C0C1E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182880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相关技术与理论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12140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温控算法、稳定性判断、开发技术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828800"/>
            <a:ext cx="384048" cy="384048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84708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C0C1E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182880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系统总体设计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212140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架构设计、状态机、数据库、功能模块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40480"/>
            <a:ext cx="384048" cy="384048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85876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C0C1E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84048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系统详细设计与实现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13308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服务端实现、客户端实现、仿真模式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840480"/>
            <a:ext cx="384048" cy="384048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385876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C0C1E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384048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系统测试与总结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413308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功能测试、实验数据、总结与展望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15320" y="411480"/>
            <a:ext cx="107188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汇报人：</a:t>
            </a:r>
            <a:r>
              <a:rPr lang="zh-CN"/>
              <a:t>王家豪</a:t>
            </a:r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8B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0" b="1">
                <a:solidFill>
                  <a:srgbClr val="C9A84C"/>
                </a:solidFill>
                <a:latin typeface="Arial" panose="020B0604020202020204"/>
              </a:defRPr>
            </a:pPr>
            <a: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383280"/>
            <a:ext cx="36576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研究背景与意义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8B7D3C"/>
                </a:solidFill>
                <a:latin typeface="Arial" panose="020B0604020202020204"/>
              </a:defRPr>
            </a:pPr>
            <a:r>
              <a:t>BACKGROUND AND SIGNIFICANCE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0" y="731520"/>
            <a:ext cx="22860" cy="5303520"/>
          </a:xfrm>
          <a:prstGeom prst="rect">
            <a:avLst/>
          </a:prstGeom>
          <a:solidFill>
            <a:srgbClr val="8B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15320" y="182880"/>
            <a:ext cx="107188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汇报人：</a:t>
            </a:r>
            <a:r>
              <a:rPr lang="zh-CN"/>
              <a:t>王家豪</a:t>
            </a:r>
            <a:endParaRPr 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C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54864" cy="777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1. 研究背景与意义 · 研究背景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046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Chapter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0" y="6217920"/>
            <a:ext cx="45720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研究背景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建筑材料防火安全性能是构筑社会公共安全防线的基石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不燃性是评价建筑材料防火等级最基础、最重要的性能指标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ISO 11820-2020 标准规定：750C 高温条件下连续稳定10分钟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传统人工测试模式效率低、过程可控性不强、数据一致性不佳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传统人工测试的痛点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操作人员需全程密切关注并手动调节，劳动强度极大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凭经验判断温度稳定，难以实现高精度控制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人工记录和计算数据效率低，容易引入主观误差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无法满足 ISO 11820-2020 对过程控制精度的严格条件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06240"/>
            <a:ext cx="10515600" cy="2011680"/>
          </a:xfrm>
          <a:prstGeom prst="roundRect">
            <a:avLst/>
          </a:prstGeom>
          <a:solidFill>
            <a:srgbClr val="0C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206240"/>
            <a:ext cx="105156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89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研究目标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84632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8E0D0"/>
                </a:solidFill>
                <a:latin typeface="微软雅黑" panose="020B0503020204020204" charset="-122"/>
              </a:defRPr>
            </a:pPr>
            <a:r>
              <a:t>开发一套严格依照 ISO 11820-2020 国际标准、能替代人工操作达成全流程自动化控制的测控系统，以大幅提升建筑材料不燃性测试的效率、准确性以及数据规范性。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15320" y="411480"/>
            <a:ext cx="107188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汇报人：</a:t>
            </a:r>
            <a:r>
              <a:rPr lang="zh-CN">
                <a:sym typeface="+mn-ea"/>
              </a:rPr>
              <a:t>王家豪</a:t>
            </a:r>
            <a:endParaRPr lang="zh-CN"/>
          </a:p>
          <a:p>
            <a:pPr algn="r">
              <a:defRPr sz="1000" b="0">
                <a:solidFill>
                  <a:srgbClr val="E8D5A3"/>
                </a:solidFill>
                <a:latin typeface="微软雅黑" panose="020B0503020204020204" charset="-122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C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54864" cy="777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1. 研究背景与意义 · 国内外现状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046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Chapter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0" y="6217920"/>
            <a:ext cx="45720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54480"/>
            <a:ext cx="512064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554480"/>
            <a:ext cx="45720" cy="4572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6642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CN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011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国内研究现状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3774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GB/T 5464-2010 标准为实验搭建了基础框架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自动化程度较低，主要依赖人工操作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有学者探索测试设备改进：自动定位传感器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模块化设计提升了试验稳定性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但在 C# 高级语言开发的智能测控方面案例较少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难以满足实时数据分析和远程监控的需求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554480"/>
            <a:ext cx="5120640" cy="457200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554480"/>
            <a:ext cx="5120640" cy="45720"/>
          </a:xfrm>
          <a:prstGeom prst="rect">
            <a:avLst/>
          </a:prstGeom>
          <a:solidFill>
            <a:srgbClr val="B87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554480"/>
            <a:ext cx="45720" cy="4572000"/>
          </a:xfrm>
          <a:prstGeom prst="rect">
            <a:avLst/>
          </a:prstGeom>
          <a:solidFill>
            <a:srgbClr val="B87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6642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87B5E"/>
                </a:solidFill>
                <a:latin typeface="微软雅黑" panose="020B0503020204020204" charset="-122"/>
              </a:defRPr>
            </a:pPr>
            <a:r>
              <a:t>EU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011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国外研究现状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3774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欧美主导，聚焦智能化与自动化技术深度整合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数据驱动方法突显自动化系统在提升精度的必要性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AI/ML/DL 技术在建筑4.0中广泛应用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NIST 提出融合红外热成像的动态监测平台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但缺乏针对 ISO 11820 标准的定制化方案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面临高成本和数据兼容性挑战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15320" y="411480"/>
            <a:ext cx="107188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汇报人：</a:t>
            </a:r>
            <a:r>
              <a:rPr lang="zh-CN">
                <a:sym typeface="+mn-ea"/>
              </a:rPr>
              <a:t>王家豪</a:t>
            </a:r>
            <a:endParaRPr lang="zh-CN"/>
          </a:p>
          <a:p>
            <a:pPr algn="r">
              <a:defRPr sz="1000" b="0">
                <a:solidFill>
                  <a:srgbClr val="E8D5A3"/>
                </a:solidFill>
                <a:latin typeface="微软雅黑" panose="020B0503020204020204" charset="-122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C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54864" cy="777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1. 研究背景与意义 · 研究意义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046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Chapter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0" y="6217920"/>
            <a:ext cx="45720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本研究的核心价值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2651760" cy="228600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265176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45720" cy="2286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128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技术层面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260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为类似标准检测方法的自动化改造</a:t>
            </a:r>
            <a:br/>
            <a:r>
              <a:t>提供可复用的技术框架和工程范例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2103120"/>
            <a:ext cx="2651760" cy="228600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37560" y="2103120"/>
            <a:ext cx="2651760" cy="45720"/>
          </a:xfrm>
          <a:prstGeom prst="rect">
            <a:avLst/>
          </a:prstGeom>
          <a:solidFill>
            <a:srgbClr val="B87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37560" y="2103120"/>
            <a:ext cx="45720" cy="2286000"/>
          </a:xfrm>
          <a:prstGeom prst="rect">
            <a:avLst/>
          </a:prstGeom>
          <a:solidFill>
            <a:srgbClr val="B87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2128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87B5E"/>
                </a:solidFill>
                <a:latin typeface="微软雅黑" panose="020B0503020204020204" charset="-122"/>
              </a:defRPr>
            </a:pPr>
            <a: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数据层面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9260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标准化、结构化数据为实验室信息化</a:t>
            </a:r>
            <a:br/>
            <a:r>
              <a:t>管理与材料性能大数据分析奠定基础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103120"/>
            <a:ext cx="2651760" cy="228600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103120"/>
            <a:ext cx="2651760" cy="45720"/>
          </a:xfrm>
          <a:prstGeom prst="rect">
            <a:avLst/>
          </a:prstGeom>
          <a:solidFill>
            <a:srgbClr val="8B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2103120"/>
            <a:ext cx="45720" cy="2286000"/>
          </a:xfrm>
          <a:prstGeom prst="rect">
            <a:avLst/>
          </a:prstGeom>
          <a:solidFill>
            <a:srgbClr val="8B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2128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效率层面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9260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试验效率提升3-5倍，人工干预时间</a:t>
            </a:r>
            <a:br/>
            <a:r>
              <a:t>从3-4小时减少到约10分钟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2103120"/>
            <a:ext cx="2651760" cy="228600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98280" y="2103120"/>
            <a:ext cx="2651760" cy="45720"/>
          </a:xfrm>
          <a:prstGeom prst="rect">
            <a:avLst/>
          </a:prstGeom>
          <a:solidFill>
            <a:srgbClr val="E8D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98280" y="2103120"/>
            <a:ext cx="45720" cy="2286000"/>
          </a:xfrm>
          <a:prstGeom prst="rect">
            <a:avLst/>
          </a:prstGeom>
          <a:solidFill>
            <a:srgbClr val="E8D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81160" y="22128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行业层面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29260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推动检测行业从经验判断朝</a:t>
            </a:r>
            <a:br/>
            <a:r>
              <a:t>数据驱动转型升级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754880"/>
            <a:ext cx="10515600" cy="1371600"/>
          </a:xfrm>
          <a:prstGeom prst="roundRect">
            <a:avLst/>
          </a:prstGeom>
          <a:solidFill>
            <a:srgbClr val="0C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4754880"/>
            <a:ext cx="105156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48920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研究方法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3035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8E0D0"/>
                </a:solidFill>
                <a:latin typeface="微软雅黑" panose="020B0503020204020204" charset="-122"/>
              </a:defRPr>
            </a:pPr>
            <a:r>
              <a:t>运用工业测控技术和现代软件工程方法，基于 .NET 8 框架与 WinForms 三层架构，集成状态机模式、多阶段自适应温控算法和线性拟合稳定性判断算法，设计并实现一套针对建筑材料不燃性试验的自动化测控系统。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15320" y="411480"/>
            <a:ext cx="107188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汇报人：</a:t>
            </a:r>
            <a:r>
              <a:rPr lang="zh-CN">
                <a:sym typeface="+mn-ea"/>
              </a:rPr>
              <a:t>王家豪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8B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0" b="1">
                <a:solidFill>
                  <a:srgbClr val="C9A84C"/>
                </a:solidFill>
                <a:latin typeface="Arial" panose="020B0604020202020204"/>
              </a:defRPr>
            </a:pPr>
            <a: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383280"/>
            <a:ext cx="36576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相关技术与理论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8B7D3C"/>
                </a:solidFill>
                <a:latin typeface="Arial" panose="020B0604020202020204"/>
              </a:defRPr>
            </a:pPr>
            <a:r>
              <a:t>KEY TECHNOLOGIES AND THEORIES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0" y="731520"/>
            <a:ext cx="22860" cy="5303520"/>
          </a:xfrm>
          <a:prstGeom prst="rect">
            <a:avLst/>
          </a:prstGeom>
          <a:solidFill>
            <a:srgbClr val="8B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15320" y="182880"/>
            <a:ext cx="107188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汇报人：</a:t>
            </a:r>
            <a:r>
              <a:rPr lang="zh-CN">
                <a:sym typeface="+mn-ea"/>
              </a:rPr>
              <a:t>王家豪</a:t>
            </a:r>
            <a:endParaRPr lang="zh-CN"/>
          </a:p>
          <a:p>
            <a:pPr algn="r">
              <a:defRPr sz="1000" b="0">
                <a:solidFill>
                  <a:srgbClr val="C9A84C"/>
                </a:solidFill>
                <a:latin typeface="微软雅黑" panose="020B0503020204020204" charset="-122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C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54864" cy="777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2. 关键技术 · 多阶段自适应温控算法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046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Chapter 2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0" y="6217920"/>
            <a:ext cx="45720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算法核心思想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采用分段逼近、平滑过渡的控制策略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升温过程划分为五个逻辑阶段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各阶段运用不同的功率输出策略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融合开环响应快与闭环精度高的优势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0" y="1370965"/>
          <a:ext cx="5029200" cy="2816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1371600"/>
              </a:tblGrid>
              <a:tr h="6223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8D5A3"/>
                          </a:solidFill>
                          <a:latin typeface="微软雅黑" panose="020B0503020204020204" charset="-122"/>
                        </a:defRPr>
                      </a:pPr>
                      <a:r>
                        <a:t>温度区间</a:t>
                      </a:r>
                    </a:p>
                  </a:txBody>
                  <a:tcPr>
                    <a:solidFill>
                      <a:srgbClr val="0C0C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8D5A3"/>
                          </a:solidFill>
                          <a:latin typeface="微软雅黑" panose="020B0503020204020204" charset="-122"/>
                        </a:defRPr>
                      </a:pPr>
                      <a:r>
                        <a:t>功率策略</a:t>
                      </a:r>
                    </a:p>
                  </a:txBody>
                  <a:tcPr>
                    <a:solidFill>
                      <a:srgbClr val="0C0C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8D5A3"/>
                          </a:solidFill>
                          <a:latin typeface="微软雅黑" panose="020B0503020204020204" charset="-122"/>
                        </a:defRPr>
                      </a:pPr>
                      <a:r>
                        <a:t>控制方式</a:t>
                      </a:r>
                    </a:p>
                  </a:txBody>
                  <a:tcPr>
                    <a:solidFill>
                      <a:srgbClr val="0C0C1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室温~300C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30% 额定功率(软启动)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开环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300~500C</a:t>
                      </a:r>
                    </a:p>
                  </a:txBody>
                  <a:tcPr>
                    <a:solidFill>
                      <a:srgbClr val="F5F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50% 额定功率</a:t>
                      </a:r>
                    </a:p>
                  </a:txBody>
                  <a:tcPr>
                    <a:solidFill>
                      <a:srgbClr val="F5F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开环</a:t>
                      </a:r>
                    </a:p>
                  </a:txBody>
                  <a:tcPr>
                    <a:solidFill>
                      <a:srgbClr val="F5F0E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500~600C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70% 额定功率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开环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600~700C</a:t>
                      </a:r>
                    </a:p>
                  </a:txBody>
                  <a:tcPr>
                    <a:solidFill>
                      <a:srgbClr val="F5F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90% 额定功率</a:t>
                      </a:r>
                    </a:p>
                  </a:txBody>
                  <a:tcPr>
                    <a:solidFill>
                      <a:srgbClr val="F5F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开环</a:t>
                      </a:r>
                    </a:p>
                  </a:txBody>
                  <a:tcPr>
                    <a:solidFill>
                      <a:srgbClr val="F5F0E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&gt;700C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切换 PID 闭环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闭环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355080" y="5445760"/>
            <a:ext cx="5120640" cy="137160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5445760"/>
            <a:ext cx="512064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5445760"/>
            <a:ext cx="45720" cy="13716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5556123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5770245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模式切换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598551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当炉温突破 700C 阈值后执行关键模式切换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通过 Modbus 协议向 PID 控制器写入目标温度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将控制权移交至硬件 PID 闭环控制器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114800"/>
            <a:ext cx="5120640" cy="137160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4114800"/>
            <a:ext cx="5120640" cy="45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4114800"/>
            <a:ext cx="45720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2245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206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算法优势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627245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最大超调量仅 2.1C（全功率方案为 32.6C）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稳态波动范围 +-0.5C 以内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升温速度与超调抑制之间取得最优平衡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411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汇报人：chaoxingstar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535" y="4057015"/>
            <a:ext cx="3781425" cy="22434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C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54864" cy="777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2. 关键技术 · 温度稳定性自动判断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046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Chapter 2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0" y="6217920"/>
            <a:ext cx="45720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数学基础：最小二乘线性回归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动态滑动窗口：存储最近10分钟温度数据（600采样点）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采样周期 800ms，每分钟调用 CheckStartCriteria()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使用 MathNet.Numerics 库的 Fit.Line() 函数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计算拟合直线斜率，得到温度漂移量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三重条件联合判定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1965960"/>
          <a:ext cx="512064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103120"/>
                <a:gridCol w="1645920"/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8D5A3"/>
                          </a:solidFill>
                          <a:latin typeface="微软雅黑" panose="020B0503020204020204" charset="-122"/>
                        </a:defRPr>
                      </a:pPr>
                      <a:r>
                        <a:t>判据</a:t>
                      </a:r>
                    </a:p>
                  </a:txBody>
                  <a:tcPr>
                    <a:solidFill>
                      <a:srgbClr val="0C0C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8D5A3"/>
                          </a:solidFill>
                          <a:latin typeface="微软雅黑" panose="020B0503020204020204" charset="-122"/>
                        </a:defRPr>
                      </a:pPr>
                      <a:r>
                        <a:t>条件</a:t>
                      </a:r>
                    </a:p>
                  </a:txBody>
                  <a:tcPr>
                    <a:solidFill>
                      <a:srgbClr val="0C0C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8D5A3"/>
                          </a:solidFill>
                          <a:latin typeface="微软雅黑" panose="020B0503020204020204" charset="-122"/>
                        </a:defRPr>
                      </a:pPr>
                      <a:r>
                        <a:t>ISO标准要求</a:t>
                      </a:r>
                    </a:p>
                  </a:txBody>
                  <a:tcPr>
                    <a:solidFill>
                      <a:srgbClr val="0C0C1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温度范围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T in [745, 755]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目标温度 +-5C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温度漂移</a:t>
                      </a:r>
                    </a:p>
                  </a:txBody>
                  <a:tcPr>
                    <a:solidFill>
                      <a:srgbClr val="F5F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Drift&lt;=2.0C/10min</a:t>
                      </a:r>
                    </a:p>
                  </a:txBody>
                  <a:tcPr>
                    <a:solidFill>
                      <a:srgbClr val="F5F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&lt;=2C/10min</a:t>
                      </a:r>
                    </a:p>
                  </a:txBody>
                  <a:tcPr>
                    <a:solidFill>
                      <a:srgbClr val="F5F0E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温度偏差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Tmax-Tavg&lt;=1.0C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&lt;=1C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731520" y="4114800"/>
            <a:ext cx="3383280" cy="137160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114800"/>
            <a:ext cx="338328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114800"/>
            <a:ext cx="45720" cy="13716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245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3154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持续性验证机制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22165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每项条件维护独立倒计时计数器(初始600)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条件满足则计数器减1，否则重置为600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三个计数器同时归零才判定稳定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4114800"/>
            <a:ext cx="3383280" cy="137160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4114800"/>
            <a:ext cx="338328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4114800"/>
            <a:ext cx="45720" cy="13716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2245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9985" y="43154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线性拟合 vs 其他方法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65455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极差法：对单次野值极其敏感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方差法：无法识别缓慢单调漂移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线性拟合：抗干扰性 + 趋势敏感性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114800"/>
            <a:ext cx="3566160" cy="137160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4114800"/>
            <a:ext cx="3566160" cy="45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4114800"/>
            <a:ext cx="45720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42245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43154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核心优势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72757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将ISO标准定性要求转化为精确数学模型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全自动、客观、连续验证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411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汇报人：chaoxingstar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C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54864" cy="777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2. 关键技术 · 开发技术栈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046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Chapter 2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0" y="6217920"/>
            <a:ext cx="45720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566160" cy="228600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56616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45720" cy="2286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642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.N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290" y="176847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.NET 8 / C#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3317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跨平台高性能框架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WinForms 桌面客户端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异步编程模型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554480"/>
            <a:ext cx="3566160" cy="228600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554480"/>
            <a:ext cx="356616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554480"/>
            <a:ext cx="45720" cy="2286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6642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2190" y="176847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OxyPlot 2.1.2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23317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实时温度曲线绘制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10分钟滑动窗口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自适应数据抽稀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554480"/>
            <a:ext cx="3566160" cy="228600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554480"/>
            <a:ext cx="356616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554480"/>
            <a:ext cx="45720" cy="2286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6642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SQ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176847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SQLite + EF 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23317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轻量级嵌入式数据库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6张核心业务表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ORM 对象关系映射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114800"/>
            <a:ext cx="3566160" cy="228600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114800"/>
            <a:ext cx="356616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114800"/>
            <a:ext cx="45720" cy="2286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2245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EP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290" y="43154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EPPlus + PDFsharp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5360" y="48463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Excel 格式化报表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PDF 正式报告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CSV 原始数据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4114800"/>
            <a:ext cx="3566160" cy="228600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97680" y="4114800"/>
            <a:ext cx="356616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97680" y="4114800"/>
            <a:ext cx="45720" cy="2286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60" y="42245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MN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74895" y="43154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MathNet.Numerics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74895" y="48463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线性回归分析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温度漂移计算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数值计算库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4114800"/>
            <a:ext cx="3566160" cy="228600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38160" y="4114800"/>
            <a:ext cx="356616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38160" y="4114800"/>
            <a:ext cx="45720" cy="2286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42245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SR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43154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Serilog 4.0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478663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结构化日志记录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文件滚动存储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故障追踪审计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15320" y="411480"/>
            <a:ext cx="107188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汇报人：</a:t>
            </a:r>
            <a:r>
              <a:rPr lang="zh-CN"/>
              <a:t>王家豪</a:t>
            </a:r>
            <a:endParaRPr 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C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54864" cy="777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2. 关键技术 · 通信协议与设计模式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046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Chapter 2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0" y="6217920"/>
            <a:ext cx="45720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120640" cy="228600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54480"/>
            <a:ext cx="512064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554480"/>
            <a:ext cx="45720" cy="2286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6642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MB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3020" y="1755775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Modbus RTU 通信协议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3020" y="22631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工业标准串行通信协议，广泛应用于温控设备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功能码 0x03：读取寄存器（温度数据）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功能码 0x06：写入寄存器（目标温度、控制模式）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FluentModbus 库封装，超时重试 + 异常处理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554480"/>
            <a:ext cx="5120640" cy="228600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554480"/>
            <a:ext cx="5120640" cy="45720"/>
          </a:xfrm>
          <a:prstGeom prst="rect">
            <a:avLst/>
          </a:prstGeom>
          <a:solidFill>
            <a:srgbClr val="B87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554480"/>
            <a:ext cx="45720" cy="2286000"/>
          </a:xfrm>
          <a:prstGeom prst="rect">
            <a:avLst/>
          </a:prstGeom>
          <a:solidFill>
            <a:srgbClr val="B87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6642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87B5E"/>
                </a:solidFill>
                <a:latin typeface="微软雅黑" panose="020B0503020204020204" charset="-122"/>
              </a:defRPr>
            </a:pPr>
            <a:r>
              <a:t>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755775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状态机设计模式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23139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将复杂试验流程离散为有限个状态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状态间转换由明确定义的事件触发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确保试验严格按 ISO 11820 标准步骤执行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代码结构清晰，可维护性好，易于扩展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114800"/>
            <a:ext cx="3383280" cy="210312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114800"/>
            <a:ext cx="338328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114800"/>
            <a:ext cx="45720" cy="21031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3154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三层架构设计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8590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表示层：WinForms UI 界面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业务逻辑层：状态机 + 算法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数据访问层：SQLite + EF Core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高内聚、低耦合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4114800"/>
            <a:ext cx="3383280" cy="210312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9120" y="4114800"/>
            <a:ext cx="338328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4114800"/>
            <a:ext cx="45720" cy="21031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42245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43611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线程安全机制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60925" y="487426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后台线程驱动数据采集（800ms）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MainForm 通过 InvokeRequired 检测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Invoke 安全调度 UI 更新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RuntimeSnapshot 不可变快照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4114800"/>
            <a:ext cx="3566160" cy="210312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46720" y="4114800"/>
            <a:ext cx="3566160" cy="45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20" y="4114800"/>
            <a:ext cx="45720" cy="2103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42245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SIM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23935" y="4297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仿真测试支持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23935" y="4810125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虚拟串口 + Modbus Slave 模拟器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无需物理硬件即可完整测试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分层可配置仿真开关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极大降低开发验证成本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15320" y="411480"/>
            <a:ext cx="107188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汇报人</a:t>
            </a:r>
            <a:r>
              <a:rPr lang="zh-CN"/>
              <a:t>：王</a:t>
            </a:r>
            <a:r>
              <a:rPr lang="zh-CN"/>
              <a:t>家豪</a:t>
            </a:r>
            <a:endParaRPr 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C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54864" cy="777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2. 关键技术 · 核心技术体系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046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Chapter 2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0" y="6217920"/>
            <a:ext cx="45720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核心技术体系总览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103120"/>
            <a:ext cx="2194560" cy="1463040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1945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C0C1E"/>
                </a:solidFill>
                <a:latin typeface="微软雅黑" panose="020B0503020204020204" charset="-122"/>
              </a:defRPr>
            </a:pPr>
            <a:r>
              <a:t>多阶段自适应</a:t>
            </a:r>
            <a:br/>
            <a:r>
              <a:t>温控算法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8346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C0C1E"/>
                </a:solidFill>
                <a:latin typeface="微软雅黑" panose="020B0503020204020204" charset="-122"/>
              </a:defRPr>
            </a:pPr>
            <a:r>
              <a:t>室温-&gt;750C</a:t>
            </a:r>
            <a:br/>
            <a:r>
              <a:t>五阶段功率控制</a:t>
            </a:r>
            <a:br/>
            <a:r>
              <a:t>+ PID 闭环切换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2103120"/>
            <a:ext cx="2194560" cy="1463040"/>
          </a:xfrm>
          <a:prstGeom prst="roundRect">
            <a:avLst/>
          </a:prstGeom>
          <a:solidFill>
            <a:srgbClr val="B87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21945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C0C1E"/>
                </a:solidFill>
                <a:latin typeface="微软雅黑" panose="020B0503020204020204" charset="-122"/>
              </a:defRPr>
            </a:pPr>
            <a:r>
              <a:t>线性拟合</a:t>
            </a:r>
            <a:br/>
            <a:r>
              <a:t>稳定性判断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8346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C0C1E"/>
                </a:solidFill>
                <a:latin typeface="微软雅黑" panose="020B0503020204020204" charset="-122"/>
              </a:defRPr>
            </a:pPr>
            <a:r>
              <a:t>MathNet.Numerics</a:t>
            </a:r>
            <a:br/>
            <a:r>
              <a:t>三重条件联合判定</a:t>
            </a:r>
            <a:br/>
            <a:r>
              <a:t>600秒持续验证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2103120"/>
            <a:ext cx="2194560" cy="1463040"/>
          </a:xfrm>
          <a:prstGeom prst="roundRect">
            <a:avLst/>
          </a:prstGeom>
          <a:solidFill>
            <a:srgbClr val="8B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21945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C0C1E"/>
                </a:solidFill>
                <a:latin typeface="微软雅黑" panose="020B0503020204020204" charset="-122"/>
              </a:defRPr>
            </a:pPr>
            <a:r>
              <a:t>状态机</a:t>
            </a:r>
            <a:br/>
            <a:r>
              <a:t>流程控制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8346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C0C1E"/>
                </a:solidFill>
                <a:latin typeface="微软雅黑" panose="020B0503020204020204" charset="-122"/>
              </a:defRPr>
            </a:pPr>
            <a:r>
              <a:t>5状态精确建模</a:t>
            </a:r>
            <a:br/>
            <a:r>
              <a:t>自动迁移+回退</a:t>
            </a:r>
            <a:br/>
            <a:r>
              <a:t>ISO标准严格执行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2103120"/>
            <a:ext cx="2194560" cy="1463040"/>
          </a:xfrm>
          <a:prstGeom prst="roundRect">
            <a:avLst/>
          </a:prstGeom>
          <a:solidFill>
            <a:srgbClr val="E8D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21945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C0C1E"/>
                </a:solidFill>
                <a:latin typeface="微软雅黑" panose="020B0503020204020204" charset="-122"/>
              </a:defRPr>
            </a:pPr>
            <a:r>
              <a:t>Modbus RTU</a:t>
            </a:r>
            <a:br/>
            <a:r>
              <a:t>硬件通信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8346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C0C1E"/>
                </a:solidFill>
                <a:latin typeface="微软雅黑" panose="020B0503020204020204" charset="-122"/>
              </a:defRPr>
            </a:pPr>
            <a:r>
              <a:t>PID温控器通信</a:t>
            </a:r>
            <a:br/>
            <a:r>
              <a:t>传感器数据采集</a:t>
            </a:r>
            <a:br/>
            <a:r>
              <a:t>超时重试容错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0" y="2103120"/>
            <a:ext cx="2194560" cy="14630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21240" y="21945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C0C1E"/>
                </a:solidFill>
                <a:latin typeface="微软雅黑" panose="020B0503020204020204" charset="-122"/>
              </a:defRPr>
            </a:pPr>
            <a:r>
              <a:t>数据持久化</a:t>
            </a:r>
            <a:br/>
            <a:r>
              <a:t>与报表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28346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C0C1E"/>
                </a:solidFill>
                <a:latin typeface="微软雅黑" panose="020B0503020204020204" charset="-122"/>
              </a:defRPr>
            </a:pPr>
            <a:r>
              <a:t>SQLite 6张表</a:t>
            </a:r>
            <a:br/>
            <a:r>
              <a:t>CSV/Excel/PDF</a:t>
            </a:r>
            <a:br/>
            <a:r>
              <a:t>自动化报告生成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931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技术选型理由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343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.NET 8：统一平台，高性能运行时，跨平台支持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WinForms：成熟桌面GUI框架，控件丰富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SQLite：轻量嵌入式，无需独立服务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OxyPlot：高性能图表库，支持实时数据流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343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MathNet.Numerics：权威数值计算库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EPPlus/PDFsharp：成熟Office文档生成方案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Serilog：结构化日志，多目标输出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FluentModbus：简洁的Modbus协议封装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15320" y="411480"/>
            <a:ext cx="107188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汇报人：</a:t>
            </a:r>
            <a:r>
              <a:rPr lang="zh-CN"/>
              <a:t>王家豪</a:t>
            </a:r>
            <a:endParaRPr 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8B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0" b="1">
                <a:solidFill>
                  <a:srgbClr val="C9A84C"/>
                </a:solidFill>
                <a:latin typeface="Arial" panose="020B0604020202020204"/>
              </a:defRPr>
            </a:pPr>
            <a: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383280"/>
            <a:ext cx="36576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系统总体设计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8B7D3C"/>
                </a:solidFill>
                <a:latin typeface="Arial" panose="020B0604020202020204"/>
              </a:defRPr>
            </a:pPr>
            <a:r>
              <a:t>SYSTEM ARCHITECTURE 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0" y="731520"/>
            <a:ext cx="22860" cy="5303520"/>
          </a:xfrm>
          <a:prstGeom prst="rect">
            <a:avLst/>
          </a:prstGeom>
          <a:solidFill>
            <a:srgbClr val="8B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15320" y="182880"/>
            <a:ext cx="107188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汇报人：</a:t>
            </a:r>
            <a:r>
              <a:rPr lang="zh-CN">
                <a:sym typeface="+mn-ea"/>
              </a:rPr>
              <a:t>王家豪</a:t>
            </a:r>
            <a:endParaRPr lang="zh-CN"/>
          </a:p>
          <a:p>
            <a:pPr algn="r">
              <a:defRPr sz="1000" b="0">
                <a:solidFill>
                  <a:srgbClr val="C9A84C"/>
                </a:solidFill>
                <a:latin typeface="微软雅黑" panose="020B0503020204020204" charset="-122"/>
              </a:defRPr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C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54864" cy="777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3. 系统总体设计 · 系统架构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046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Chapter 3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0" y="6217920"/>
            <a:ext cx="45720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四层技术架构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011680"/>
            <a:ext cx="5943600" cy="749808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848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C0C1E"/>
                </a:solidFill>
                <a:latin typeface="微软雅黑" panose="020B0503020204020204" charset="-122"/>
              </a:defRPr>
            </a:pPr>
            <a:r>
              <a:t>表示层 (UI)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103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C0C1E"/>
                </a:solidFill>
                <a:latin typeface="微软雅黑" panose="020B0503020204020204" charset="-122"/>
              </a:defRPr>
            </a:pPr>
            <a:r>
              <a:t>WinForms 图形界面 · 温度曲线 · 状态显示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5943600" cy="749808"/>
          </a:xfrm>
          <a:prstGeom prst="roundRect">
            <a:avLst/>
          </a:prstGeom>
          <a:solidFill>
            <a:srgbClr val="B87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992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C0C1E"/>
                </a:solidFill>
                <a:latin typeface="微软雅黑" panose="020B0503020204020204" charset="-122"/>
              </a:defRPr>
            </a:pPr>
            <a:r>
              <a:t>业务逻辑层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017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C0C1E"/>
                </a:solidFill>
                <a:latin typeface="微软雅黑" panose="020B0503020204020204" charset="-122"/>
              </a:defRPr>
            </a:pPr>
            <a:r>
              <a:t>TestController 状态机 · 温控算法 · 稳定性判断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5943600" cy="749808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9136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C0C1E"/>
                </a:solidFill>
                <a:latin typeface="微软雅黑" panose="020B0503020204020204" charset="-122"/>
              </a:defRPr>
            </a:pPr>
            <a:r>
              <a:t>数据访问层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931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C0C1E"/>
                </a:solidFill>
                <a:latin typeface="微软雅黑" panose="020B0503020204020204" charset="-122"/>
              </a:defRPr>
            </a:pPr>
            <a:r>
              <a:t>SQLite + EF Core · 数据持久化 · 导出服务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54880"/>
            <a:ext cx="5943600" cy="749808"/>
          </a:xfrm>
          <a:prstGeom prst="roundRect">
            <a:avLst/>
          </a:prstGeom>
          <a:solidFill>
            <a:srgbClr val="8B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280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C0C1E"/>
                </a:solidFill>
                <a:latin typeface="微软雅黑" panose="020B0503020204020204" charset="-122"/>
              </a:defRPr>
            </a:pPr>
            <a:r>
              <a:t>硬件抽象层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846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C0C1E"/>
                </a:solidFill>
                <a:latin typeface="微软雅黑" panose="020B0503020204020204" charset="-122"/>
              </a:defRPr>
            </a:pPr>
            <a:r>
              <a:t>Modbus RTU · PID控制器 · 传感器采集 · 仿真引擎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607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Core 零外部依赖 | UI 不写业务逻辑 | 共享契约跨层交互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1901952"/>
            <a:ext cx="4572000" cy="410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0392B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10815320" y="411480"/>
            <a:ext cx="107188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汇报人：</a:t>
            </a:r>
            <a:r>
              <a:rPr lang="zh-CN">
                <a:sym typeface="+mn-ea"/>
              </a:rPr>
              <a:t>王家豪</a:t>
            </a:r>
            <a:endParaRPr lang="zh-CN"/>
          </a:p>
          <a:p>
            <a:pPr algn="r">
              <a:defRPr sz="1000" b="0">
                <a:solidFill>
                  <a:srgbClr val="E8D5A3"/>
                </a:solidFill>
                <a:latin typeface="微软雅黑" panose="020B0503020204020204" charset="-122"/>
              </a:defRPr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C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54864" cy="777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3. 系统总体设计 · 状态机设计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046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Chapter 3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0" y="6217920"/>
            <a:ext cx="45720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37360"/>
            <a:ext cx="2011680" cy="868680"/>
          </a:xfrm>
          <a:prstGeom prst="round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1051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Idle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空闲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920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1737360"/>
            <a:ext cx="2011680" cy="868680"/>
          </a:xfrm>
          <a:prstGeom prst="roundRect">
            <a:avLst/>
          </a:prstGeom>
          <a:solidFill>
            <a:srgbClr val="8B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181051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Preparing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194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升温中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920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1737360"/>
            <a:ext cx="2011680" cy="8686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181051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194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就绪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1920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59" y="1737360"/>
            <a:ext cx="2011680" cy="868680"/>
          </a:xfrm>
          <a:prstGeom prst="roundRect">
            <a:avLst/>
          </a:prstGeom>
          <a:solidFill>
            <a:srgbClr val="B87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59" y="181051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Recording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59" y="2194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记录中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59" y="1920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1737360"/>
            <a:ext cx="2011680" cy="868680"/>
          </a:xfrm>
          <a:prstGeom prst="roundRect">
            <a:avLst/>
          </a:prstGeom>
          <a:solidFill>
            <a:srgbClr val="0C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181051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Complete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2194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完成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&lt;-- 温度波动时自动回退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1089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状态转换规则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520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Idle -&gt; Preparing：操作员点击[开始升温]，启动多阶段功率控制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395935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Preparing -&gt; Ready：温度稳定（三重条件连续满足），系统自动转换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39826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Ready -&gt; Preparing：温度波动超出稳定范围，自动回退重新升温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837176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Ready -&gt; Recording：操作员点击[开始记录]，记录恒定功率并开始计时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27608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Recording -&gt; Complete：用户手动停止 或 自动终止（30-60分钟检查点）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0" y="3108960"/>
            <a:ext cx="4572000" cy="2926080"/>
          </a:xfrm>
          <a:prstGeom prst="roundRect">
            <a:avLst/>
          </a:prstGeom>
          <a:solidFill>
            <a:srgbClr val="FFF3CD"/>
          </a:solidFill>
          <a:ln w="317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0" y="31821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3474720"/>
            <a:ext cx="4389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（此处需要插上试验流程状态机图 —— 对应论文图5-1）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411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汇报人：chaoxingstar</a:t>
            </a: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5421630"/>
            <a:ext cx="3824605" cy="276225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3797300"/>
            <a:ext cx="3796030" cy="205105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670" y="4177665"/>
            <a:ext cx="3810000" cy="285750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2670" y="4638675"/>
            <a:ext cx="3748405" cy="276225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5028565"/>
            <a:ext cx="3743325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C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54864" cy="777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3. 系统总体设计 · 数据库设计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046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Chapter 3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0" y="6217920"/>
            <a:ext cx="45720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SQLite 6 张核心表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965960"/>
          <a:ext cx="649224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3200400"/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8D5A3"/>
                          </a:solidFill>
                          <a:latin typeface="微软雅黑" panose="020B0503020204020204" charset="-122"/>
                        </a:defRPr>
                      </a:pPr>
                      <a:r>
                        <a:t>表名</a:t>
                      </a:r>
                    </a:p>
                  </a:txBody>
                  <a:tcPr>
                    <a:solidFill>
                      <a:srgbClr val="0C0C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8D5A3"/>
                          </a:solidFill>
                          <a:latin typeface="微软雅黑" panose="020B0503020204020204" charset="-122"/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0C0C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8D5A3"/>
                          </a:solidFill>
                          <a:latin typeface="微软雅黑" panose="020B0503020204020204" charset="-122"/>
                        </a:defRPr>
                      </a:pPr>
                      <a:r>
                        <a:t>关键字段</a:t>
                      </a:r>
                    </a:p>
                  </a:txBody>
                  <a:tcPr>
                    <a:solidFill>
                      <a:srgbClr val="0C0C1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operators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操作员账号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id, username, pwd, role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apparatus</a:t>
                      </a:r>
                    </a:p>
                  </a:txBody>
                  <a:tcPr>
                    <a:solidFill>
                      <a:srgbClr val="F5F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试验设备</a:t>
                      </a:r>
                    </a:p>
                  </a:txBody>
                  <a:tcPr>
                    <a:solidFill>
                      <a:srgbClr val="F5F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id, name, model, serial_number</a:t>
                      </a:r>
                    </a:p>
                  </a:txBody>
                  <a:tcPr>
                    <a:solidFill>
                      <a:srgbClr val="F5F0E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productmaster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产品信息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id, product_code, product_name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testmaster</a:t>
                      </a:r>
                    </a:p>
                  </a:txBody>
                  <a:tcPr>
                    <a:solidFill>
                      <a:srgbClr val="F5F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试验主记录</a:t>
                      </a:r>
                    </a:p>
                  </a:txBody>
                  <a:tcPr>
                    <a:solidFill>
                      <a:srgbClr val="F5F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productid+testid(PK), testdate</a:t>
                      </a:r>
                    </a:p>
                  </a:txBody>
                  <a:tcPr>
                    <a:solidFill>
                      <a:srgbClr val="F5F0E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sensors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传感器配置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id, name, type, channel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CalibrationRecords</a:t>
                      </a:r>
                    </a:p>
                  </a:txBody>
                  <a:tcPr>
                    <a:solidFill>
                      <a:srgbClr val="F5F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校准记录</a:t>
                      </a:r>
                    </a:p>
                  </a:txBody>
                  <a:tcPr>
                    <a:solidFill>
                      <a:srgbClr val="F5F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id, sensor_id(FK), result_json</a:t>
                      </a:r>
                    </a:p>
                  </a:txBody>
                  <a:tcPr>
                    <a:solidFill>
                      <a:srgbClr val="F5F0E2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5029200"/>
            <a:ext cx="3383280" cy="128016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5029200"/>
            <a:ext cx="338328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5029200"/>
            <a:ext cx="45720" cy="12801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389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SD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184775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种子数据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56895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admin / 123456（管理员）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experimenter / 123456（试验员）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5029200"/>
            <a:ext cx="3383280" cy="128016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5029200"/>
            <a:ext cx="338328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5029200"/>
            <a:ext cx="45720" cy="12801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51389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5184775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ER关系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56515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Testmaster &lt;-&gt; Productmaster 一对多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ProductId 外键关联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5029200"/>
            <a:ext cx="3566160" cy="128016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5029200"/>
            <a:ext cx="356616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5029200"/>
            <a:ext cx="45720" cy="12801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51389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HL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0915" y="518477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设计亮点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623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配置驱动数据库路径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UI层零SQL代码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0" y="1965960"/>
            <a:ext cx="2926080" cy="2743200"/>
          </a:xfrm>
          <a:prstGeom prst="roundRect">
            <a:avLst/>
          </a:prstGeom>
          <a:solidFill>
            <a:srgbClr val="FFF3CD"/>
          </a:solidFill>
          <a:ln w="317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20391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📷</a:t>
            </a:r>
          </a:p>
        </p:txBody>
      </p:sp>
      <p:pic>
        <p:nvPicPr>
          <p:cNvPr id="31" name="Picture 30" descr="er_diagr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828800"/>
            <a:ext cx="3474720" cy="29260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601200" y="411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汇报人：userswdrs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C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54864" cy="777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3. 系统总体设计 · 功能模块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046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Chapter 3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0" y="6217920"/>
            <a:ext cx="45720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566160" cy="182880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56616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45720" cy="1828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642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TQ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695" y="180784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试验管理控制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9015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状态机驱动全流程</a:t>
            </a:r>
            <a:br/>
            <a:r>
              <a:t>自动升温-&gt;稳定判断-&gt;</a:t>
            </a:r>
            <a:br/>
            <a:r>
              <a:t>数据记录-&gt;报告生成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554480"/>
            <a:ext cx="3566160" cy="182880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554480"/>
            <a:ext cx="3566160" cy="45720"/>
          </a:xfrm>
          <a:prstGeom prst="rect">
            <a:avLst/>
          </a:prstGeom>
          <a:solidFill>
            <a:srgbClr val="B87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554480"/>
            <a:ext cx="45720" cy="1828800"/>
          </a:xfrm>
          <a:prstGeom prst="rect">
            <a:avLst/>
          </a:prstGeom>
          <a:solidFill>
            <a:srgbClr val="B87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6642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87B5E"/>
                </a:solidFill>
                <a:latin typeface="微软雅黑" panose="020B0503020204020204" charset="-122"/>
              </a:defRPr>
            </a:pPr>
            <a:r>
              <a:t>TC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8225" y="180784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智能温度控制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8225" y="2279015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多阶段自适应算法</a:t>
            </a:r>
            <a:br/>
            <a:r>
              <a:t>+ PID闭环控制</a:t>
            </a:r>
            <a:br/>
            <a:r>
              <a:t>750C +-0.5C 精度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554480"/>
            <a:ext cx="3566160" cy="182880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554480"/>
            <a:ext cx="3566160" cy="45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554480"/>
            <a:ext cx="45720" cy="1828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6642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DQ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180784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数据采集与处理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28710" y="2279015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800ms高频采集</a:t>
            </a:r>
            <a:br/>
            <a:r>
              <a:t>双缓冲区策略</a:t>
            </a:r>
            <a:br/>
            <a:r>
              <a:t>内存缓存+数据库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657600"/>
            <a:ext cx="3566160" cy="182880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657600"/>
            <a:ext cx="3566160" cy="45720"/>
          </a:xfrm>
          <a:prstGeom prst="rect">
            <a:avLst/>
          </a:prstGeom>
          <a:solidFill>
            <a:srgbClr val="8B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657600"/>
            <a:ext cx="45720" cy="1828800"/>
          </a:xfrm>
          <a:prstGeom prst="rect">
            <a:avLst/>
          </a:prstGeom>
          <a:solidFill>
            <a:srgbClr val="8B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7673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UI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8695" y="393065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用户交互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8695" y="440817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实时曲线可视化</a:t>
            </a:r>
            <a:br/>
            <a:r>
              <a:t>状态驱动UI</a:t>
            </a:r>
            <a:br/>
            <a:r>
              <a:t>角色权限管理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3657600"/>
            <a:ext cx="3566160" cy="182880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97680" y="3657600"/>
            <a:ext cx="3566160" cy="457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97680" y="3657600"/>
            <a:ext cx="45720" cy="18288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60" y="37673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8E44AD"/>
                </a:solidFill>
                <a:latin typeface="微软雅黑" panose="020B0503020204020204" charset="-122"/>
              </a:defRPr>
            </a:pPr>
            <a:r>
              <a:t>RP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30750" y="393065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报告自动生成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8225" y="43561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Excel格式化报表</a:t>
            </a:r>
            <a:br/>
            <a:r>
              <a:t>PDF正式报告</a:t>
            </a:r>
            <a:br/>
            <a:r>
              <a:t>CSV原始数据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3657600"/>
            <a:ext cx="3566160" cy="182880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38160" y="3657600"/>
            <a:ext cx="356616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38160" y="3657600"/>
            <a:ext cx="45720" cy="1828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37673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CL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393065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校准系统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440817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炉壁9点温度校验</a:t>
            </a:r>
            <a:br/>
            <a:r>
              <a:t>中心轴15点扫描</a:t>
            </a:r>
            <a:br/>
            <a:r>
              <a:t>校准前置管理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15320" y="411480"/>
            <a:ext cx="107188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汇报人：</a:t>
            </a:r>
            <a:r>
              <a:rPr lang="zh-CN"/>
              <a:t>王家豪</a:t>
            </a:r>
            <a:endParaRPr lang="zh-C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8B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0" b="1">
                <a:solidFill>
                  <a:srgbClr val="C9A84C"/>
                </a:solidFill>
                <a:latin typeface="Arial" panose="020B0604020202020204"/>
              </a:defRPr>
            </a:pPr>
            <a: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383280"/>
            <a:ext cx="36576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系统详细设计与实现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8B7D3C"/>
                </a:solidFill>
                <a:latin typeface="Arial" panose="020B0604020202020204"/>
              </a:defRPr>
            </a:pPr>
            <a:r>
              <a:t>SYSTEM IMPLEMENTATION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0" y="731520"/>
            <a:ext cx="22860" cy="5303520"/>
          </a:xfrm>
          <a:prstGeom prst="rect">
            <a:avLst/>
          </a:prstGeom>
          <a:solidFill>
            <a:srgbClr val="8B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0985" y="182880"/>
            <a:ext cx="1466215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汇报人：</a:t>
            </a:r>
            <a:r>
              <a:rPr>
                <a:sym typeface="+mn-ea"/>
              </a:rPr>
              <a:t>chaoxingstar</a:t>
            </a:r>
            <a:endParaRPr>
              <a:sym typeface="+mn-ea"/>
            </a:endParaRPr>
          </a:p>
          <a:p>
            <a:pPr algn="r">
              <a:defRPr sz="1000" b="0">
                <a:solidFill>
                  <a:srgbClr val="C9A84C"/>
                </a:solidFill>
                <a:latin typeface="微软雅黑" panose="020B0503020204020204" charset="-122"/>
              </a:defRPr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C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54864" cy="777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4. 系统实现 · 数据采集服务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046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Chapter 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0" y="6217920"/>
            <a:ext cx="45720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DaqWorker -- 800ms 数据引擎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独立后台线程，800ms 固定周期轮询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调用 TestController.Tick() 统一调度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SensorSimulator 计算仿真温度数据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AccumulateSensorData() 累积传感器缓冲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EvaluateAutoTransitions() 状态自动迁移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BuildSnapshot() 构建 RuntimeSnapshot 广播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数据流架构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103120"/>
            <a:ext cx="1005840" cy="548640"/>
          </a:xfrm>
          <a:prstGeom prst="roundRect">
            <a:avLst/>
          </a:prstGeom>
          <a:solidFill>
            <a:srgbClr val="8B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39696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DaqWorker</a:t>
            </a:r>
            <a:br/>
            <a:r>
              <a:t>(800ms)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4928" y="2176272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2103120"/>
            <a:ext cx="1005840" cy="548640"/>
          </a:xfrm>
          <a:prstGeom prst="roundRect">
            <a:avLst/>
          </a:prstGeom>
          <a:solidFill>
            <a:srgbClr val="0C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2139696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TestController</a:t>
            </a:r>
            <a:br/>
            <a:r>
              <a:t>.Tick()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7928" y="2176272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2103120"/>
            <a:ext cx="1005840" cy="548640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2139696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C0C1E"/>
                </a:solidFill>
                <a:latin typeface="微软雅黑" panose="020B0503020204020204" charset="-122"/>
              </a:defRPr>
            </a:pPr>
            <a:r>
              <a:t>SensorSim</a:t>
            </a:r>
            <a:br/>
            <a:r>
              <a:t>.Update()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0928" y="2176272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2103120"/>
            <a:ext cx="1005840" cy="548640"/>
          </a:xfrm>
          <a:prstGeom prst="roundRect">
            <a:avLst/>
          </a:prstGeom>
          <a:solidFill>
            <a:srgbClr val="0C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2139696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BuildSnap</a:t>
            </a:r>
            <a:br/>
            <a:r>
              <a:t>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53928" y="2176272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0" y="2103120"/>
            <a:ext cx="1005840" cy="548640"/>
          </a:xfrm>
          <a:prstGeom prst="roundRect">
            <a:avLst/>
          </a:prstGeom>
          <a:solidFill>
            <a:srgbClr val="B87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2139696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DataBroadcast</a:t>
            </a:r>
            <a:br/>
            <a:r>
              <a:t>事件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114800"/>
            <a:ext cx="5120640" cy="137160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114800"/>
            <a:ext cx="512064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4114800"/>
            <a:ext cx="45720" cy="13716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2245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CM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26845" y="4335145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通信容错机制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26845" y="4733925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FluentModbus 库封装 Modbus RTU 协议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超时重试机制（默认1000ms）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异常捕获与结构化日志记录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114800"/>
            <a:ext cx="5120640" cy="137160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4114800"/>
            <a:ext cx="512064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4114800"/>
            <a:ext cx="45720" cy="13716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2245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5C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30720" y="42748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5通道温度采集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31355" y="465455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TF1 — 炉壁热电偶1（蓝色曲线）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TF2 — 炉壁热电偶2（红色曲线）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TS/TC — 试样表面/中心热电偶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411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汇报人：chaoxingstar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C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54864" cy="777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4. 系统实现 · 试验流程控制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046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Chapter 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0" y="6217920"/>
            <a:ext cx="45720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TestController -- 状态机控制器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TestState 枚举驱动 5 种状态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Tick() 方法：800ms 统一调度入口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EvaluateAutoTransitions()：自动判断迁移条件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CheckAutoTermination()：自动终止判断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Ready -&gt; Preparing 自动回退机制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lock 保证线程安全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自动终止条件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30分钟检查点：温漂&lt;=0.5C/10min -&gt; 提前终止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35/40/45/50/55分钟检查点：同上条件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60分钟：无条件终止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温漂由 MathNet.Numerics 线性回归计算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3383280" cy="210312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114800"/>
            <a:ext cx="338328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114800"/>
            <a:ext cx="45720" cy="21031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245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389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恒定功率计算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7548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Ready 状态记录 PID 输出值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最多缓存 600 个采样点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StartRecording 时取平均值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作为 Recording 阶段恒定功率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4114800"/>
            <a:ext cx="3383280" cy="210312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4114800"/>
            <a:ext cx="338328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4114800"/>
            <a:ext cx="45720" cy="21031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2245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SB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4328795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传感器数据缓冲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470916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SensorDataBuffer 累积时序数据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每 Tick 追加 SensorDataRecord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含12通道值 + 时间戳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供导出模块读取完整试验数据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114800"/>
            <a:ext cx="3566160" cy="210312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4114800"/>
            <a:ext cx="3566160" cy="45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4114800"/>
            <a:ext cx="45720" cy="2103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42245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4297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状态转换日志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7900" y="47548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每次转换生成 SystemMessage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含时间戳 + 转换原因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通过广播推送至 UI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底部日志区实时显示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411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汇报人：chaoxingstar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C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54864" cy="777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4. 系统实现 · 智能温控算法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046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Chapter 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0" y="6217920"/>
            <a:ext cx="45720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SensorSimulator -- 仿真引擎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11680"/>
            <a:ext cx="2651760" cy="1828800"/>
          </a:xfrm>
          <a:prstGeom prst="roundRect">
            <a:avLst/>
          </a:prstGeom>
          <a:solidFill>
            <a:srgbClr val="8B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升温阶段</a:t>
            </a:r>
            <a:br/>
            <a:r>
              <a:t>(Preparing)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974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线性递增</a:t>
            </a:r>
            <a:br/>
            <a:r>
              <a:t>step=Rate*0.8</a:t>
            </a:r>
            <a:br/>
            <a:r>
              <a:t>TF1/TF2同步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011680"/>
            <a:ext cx="2651760" cy="18288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稳定阶段</a:t>
            </a:r>
            <a:br/>
            <a:r>
              <a:t>(Ready)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6974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钳位目标温度</a:t>
            </a:r>
            <a:br/>
            <a:r>
              <a:t>+随机噪声</a:t>
            </a:r>
            <a:br/>
            <a:r>
              <a:t>模拟真实波动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011680"/>
            <a:ext cx="2651760" cy="1828800"/>
          </a:xfrm>
          <a:prstGeom prst="roundRect">
            <a:avLst/>
          </a:prstGeom>
          <a:solidFill>
            <a:srgbClr val="B87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记录阶段</a:t>
            </a:r>
            <a:br/>
            <a:r>
              <a:t>(Recording)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6974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炉温恒定</a:t>
            </a:r>
            <a:br/>
            <a:r>
              <a:t>表面温/中心温</a:t>
            </a:r>
            <a:br/>
            <a:r>
              <a:t>指数逼近炉温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2011680"/>
            <a:ext cx="2651760" cy="1828800"/>
          </a:xfrm>
          <a:prstGeom prst="round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冷却阶段</a:t>
            </a:r>
            <a:br/>
            <a:r>
              <a:t>(Cooling)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6974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指数衰减</a:t>
            </a:r>
            <a:br/>
            <a:r>
              <a:t>自然散热模拟</a:t>
            </a:r>
            <a:br/>
            <a:r>
              <a:t>回落至安全温度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148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温漂计算：MathNet.Numerics 线性回归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26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最近20个采样点用于线性回归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Fit.Line(times, temps) -&gt; (intercept, slope)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slope 即为温漂速率（C/s）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乘以600得到10分钟漂移量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526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稳定性判断：温度范围 + 持续稳定计数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IsTemperatureStable()：+-3C 阈值判断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连续4次稳定 -&gt; 触发 Ready 状态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仿真参数从 appsettings.json 读取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411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汇报人：chaoxingstar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C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54864" cy="777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4. 系统实现 · 客户端界面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046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Chapter 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0" y="6217920"/>
            <a:ext cx="45720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WinForms 客户端核心功能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11680"/>
            <a:ext cx="1737360" cy="201168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011680"/>
            <a:ext cx="173736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011680"/>
            <a:ext cx="45720" cy="20116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21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2123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实时监控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346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OxyPlot温度曲线</a:t>
            </a:r>
            <a:br/>
            <a:r>
              <a:t>10分钟滑动窗口</a:t>
            </a:r>
            <a:br/>
            <a:r>
              <a:t>800ms刷新周期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77440" y="2011680"/>
            <a:ext cx="1737360" cy="201168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77440" y="2011680"/>
            <a:ext cx="173736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77440" y="2011680"/>
            <a:ext cx="45720" cy="20116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0" y="2121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FC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16860" y="22123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流程控制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28346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状态驱动按钮矩阵</a:t>
            </a:r>
            <a:br/>
            <a:r>
              <a:t>ButtonStateMatrix</a:t>
            </a:r>
            <a:br/>
            <a:r>
              <a:t>防误操作设计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2011680"/>
            <a:ext cx="1737360" cy="201168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2011680"/>
            <a:ext cx="173736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2011680"/>
            <a:ext cx="45720" cy="20116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2121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AU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2123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权限管理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28346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角色登录认证</a:t>
            </a:r>
            <a:br/>
            <a:r>
              <a:t>admin/experimenter</a:t>
            </a:r>
            <a:br/>
            <a:r>
              <a:t>SHA256密码哈希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2011680"/>
            <a:ext cx="1737360" cy="201168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2011680"/>
            <a:ext cx="173736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2011680"/>
            <a:ext cx="45720" cy="20116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121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CL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22123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校准面板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8346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炉壁9点校验</a:t>
            </a:r>
            <a:br/>
            <a:r>
              <a:t>中心轴15点扫描</a:t>
            </a:r>
            <a:br/>
            <a:r>
              <a:t>校准前置管理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297680"/>
            <a:ext cx="3383280" cy="91440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4297680"/>
            <a:ext cx="338328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4297680"/>
            <a:ext cx="45720" cy="914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407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0310" y="4407535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线程安全设计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0310" y="4773295"/>
            <a:ext cx="301752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InvokeRequired + Invoke 安全调度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89120" y="4297680"/>
            <a:ext cx="3383280" cy="91440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89120" y="4297680"/>
            <a:ext cx="338328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89120" y="4297680"/>
            <a:ext cx="45720" cy="914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4407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HL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760" y="4407535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界面设计亮点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7760" y="4800600"/>
            <a:ext cx="301752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OxyPlot 四通道实时温度曲线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6720" y="2011680"/>
            <a:ext cx="3657600" cy="1645920"/>
          </a:xfrm>
          <a:prstGeom prst="roundRect">
            <a:avLst/>
          </a:prstGeom>
          <a:solidFill>
            <a:srgbClr val="FFF3CD"/>
          </a:solidFill>
          <a:ln w="317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20" y="20848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📷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46720" y="3840480"/>
            <a:ext cx="3657600" cy="1645920"/>
          </a:xfrm>
          <a:prstGeom prst="roundRect">
            <a:avLst/>
          </a:prstGeom>
          <a:solidFill>
            <a:srgbClr val="FFF3CD"/>
          </a:solidFill>
          <a:ln w="317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46720" y="39136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411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汇报人：Nlpexi-e</a:t>
            </a:r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1850" y="2057400"/>
            <a:ext cx="2520950" cy="1582420"/>
          </a:xfrm>
          <a:prstGeom prst="rect">
            <a:avLst/>
          </a:prstGeom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0975" y="3715385"/>
            <a:ext cx="1609090" cy="17049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C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54864" cy="777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4. 系统实现 · 数据管理与导出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046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Chapter 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0" y="6217920"/>
            <a:ext cx="45720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数据持久化流程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实时数据 -&gt; 内存缓冲 -&gt; 异步批量写入 SQLite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CsvSampleWriter 同时输出 CSV 文件备份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路径格式：TestData/{productid}/{testid}/sensor_data.csv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TestRecordCoordinator 统一组织保存逻辑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  保存后 flag 置位，防止重复覆盖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多格式导出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965960"/>
            <a:ext cx="1737360" cy="137160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965960"/>
            <a:ext cx="173736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965960"/>
            <a:ext cx="45720" cy="13716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0756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CSV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6890" y="2121535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CSV 导出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66890" y="2631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原始传感器时序数据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965960"/>
            <a:ext cx="1737360" cy="137160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965960"/>
            <a:ext cx="173736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1965960"/>
            <a:ext cx="45720" cy="13716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20756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XLS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2845" y="2103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Excel 导出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47125" y="255905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EPPlus 格式化报表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0" y="1965960"/>
            <a:ext cx="1737360" cy="137160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241280" y="1965960"/>
            <a:ext cx="173736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241280" y="1965960"/>
            <a:ext cx="45720" cy="13716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0" y="20756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PDF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67365" y="2121535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PDF 导出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255905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PDFsharp正式报告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114800"/>
            <a:ext cx="5120640" cy="137160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4114800"/>
            <a:ext cx="512064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4114800"/>
            <a:ext cx="45720" cy="13716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2245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HQ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4224655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HistoryCoordinator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4655185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按日期范围、产品编号、操作员多条件查询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查看试验详细温度数据，一键重新生成报告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4114800"/>
            <a:ext cx="5120640" cy="137160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4114800"/>
            <a:ext cx="512064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4114800"/>
            <a:ext cx="45720" cy="13716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42245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TR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224655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试验记录管理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4655185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TestRecordDialog 录入火焰现象、质量损失等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自动计算质量损失率、温升等指标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411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汇报人：Y-Yunye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C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54864" cy="777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4. 系统实现 · 仿真测试框架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046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Chapter 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0" y="6217920"/>
            <a:ext cx="45720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分层可配置仿真开关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965960"/>
          <a:ext cx="8595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645920"/>
                <a:gridCol w="1645920"/>
                <a:gridCol w="1371600"/>
                <a:gridCol w="2743200"/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8D5A3"/>
                          </a:solidFill>
                          <a:latin typeface="微软雅黑" panose="020B0503020204020204" charset="-122"/>
                        </a:defRPr>
                      </a:pPr>
                      <a:r>
                        <a:t>模式</a:t>
                      </a:r>
                    </a:p>
                  </a:txBody>
                  <a:tcPr>
                    <a:solidFill>
                      <a:srgbClr val="0C0C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8D5A3"/>
                          </a:solidFill>
                          <a:latin typeface="微软雅黑" panose="020B0503020204020204" charset="-122"/>
                        </a:defRPr>
                      </a:pPr>
                      <a:r>
                        <a:t>EnableSim</a:t>
                      </a:r>
                    </a:p>
                  </a:txBody>
                  <a:tcPr>
                    <a:solidFill>
                      <a:srgbClr val="0C0C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8D5A3"/>
                          </a:solidFill>
                          <a:latin typeface="微软雅黑" panose="020B0503020204020204" charset="-122"/>
                        </a:defRPr>
                      </a:pPr>
                      <a:r>
                        <a:t>SimSensors</a:t>
                      </a:r>
                    </a:p>
                  </a:txBody>
                  <a:tcPr>
                    <a:solidFill>
                      <a:srgbClr val="0C0C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8D5A3"/>
                          </a:solidFill>
                          <a:latin typeface="微软雅黑" panose="020B0503020204020204" charset="-122"/>
                        </a:defRPr>
                      </a:pPr>
                      <a:r>
                        <a:t>SimPid</a:t>
                      </a:r>
                    </a:p>
                  </a:txBody>
                  <a:tcPr>
                    <a:solidFill>
                      <a:srgbClr val="0C0C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8D5A3"/>
                          </a:solidFill>
                          <a:latin typeface="微软雅黑" panose="020B0503020204020204" charset="-122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C0C1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全硬件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连接真实硬件设备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全仿真</a:t>
                      </a:r>
                    </a:p>
                  </a:txBody>
                  <a:tcPr>
                    <a:solidFill>
                      <a:srgbClr val="F5F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F5F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F5F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F5F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无需任何物理设备</a:t>
                      </a:r>
                    </a:p>
                  </a:txBody>
                  <a:tcPr>
                    <a:solidFill>
                      <a:srgbClr val="F5F0E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半实物A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仿真温度+真实PID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半实物B</a:t>
                      </a:r>
                    </a:p>
                  </a:txBody>
                  <a:tcPr>
                    <a:solidFill>
                      <a:srgbClr val="F5F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F5F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5F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F5F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52A"/>
                          </a:solidFill>
                          <a:latin typeface="微软雅黑" panose="020B0503020204020204" charset="-122"/>
                        </a:defRPr>
                      </a:pPr>
                      <a:r>
                        <a:t>真实温度+仿真PID</a:t>
                      </a:r>
                    </a:p>
                  </a:txBody>
                  <a:tcPr>
                    <a:solidFill>
                      <a:srgbClr val="F5F0E2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4389120"/>
            <a:ext cx="5120640" cy="128016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389120"/>
            <a:ext cx="512064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389120"/>
            <a:ext cx="45720" cy="12801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988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CFG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1580" y="4544695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配置驱动（appsettings.json）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2385" y="4892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Simulation 节点：仿真参数（目标温度、升温速率）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Hardware 节点：硬件参数（恒定功率、PID温度）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运行时修改参数无需重启应用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389120"/>
            <a:ext cx="5120640" cy="1280160"/>
          </a:xfrm>
          <a:prstGeom prst="round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4389120"/>
            <a:ext cx="5120640" cy="45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4389120"/>
            <a:ext cx="45720" cy="1280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4988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VL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4544695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仿真测试价值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4555" y="497459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开发阶段：无需硬件即可完整测试核心业务逻辑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D352A"/>
                </a:solidFill>
                <a:latin typeface="微软雅黑" panose="020B0503020204020204" charset="-122"/>
              </a:defRPr>
            </a:pPr>
            <a:r>
              <a:t>培训阶段：安全环境供操作员学习使用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411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汇报人：Y-Yunye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C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54864" cy="777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5. 系统测试与总结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046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Chapter 5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0" y="6217920"/>
            <a:ext cx="45720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三层测试体系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2011680"/>
            <a:ext cx="4114800" cy="822960"/>
          </a:xfrm>
          <a:prstGeom prst="roundRect">
            <a:avLst/>
          </a:prstGeom>
          <a:solidFill>
            <a:srgbClr val="B87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2112137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UI 自动化</a:t>
            </a:r>
            <a:br/>
            <a:r>
              <a:t>FlaUI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103120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桌面自动化验收 TC01-TC10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0" y="2971800"/>
            <a:ext cx="5486400" cy="868680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304495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集成测试</a:t>
            </a:r>
            <a:br/>
            <a:r>
              <a:t>xUnit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0632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数据库 CSV 导出链路 历史查询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977639"/>
            <a:ext cx="7315200" cy="914400"/>
          </a:xfrm>
          <a:prstGeom prst="roundRect">
            <a:avLst/>
          </a:prstGeom>
          <a:solidFill>
            <a:srgbClr val="0C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050791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单元测试</a:t>
            </a:r>
            <a:br/>
            <a:r>
              <a:t>xUnit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069079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状态机 仿真计算 按钮矩阵 认证 配置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5885" y="14859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项目成果与总结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1930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&gt;&gt; 全流程自动化：状态机驱动5状态精确流转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2174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&gt;&gt; 智能温控：多阶段自适应 + PID闭环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63525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&gt;&gt; 稳定性判断：线性拟合 + 三重条件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967355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&gt;&gt; 实时可视化：OxyPlot 4通道温度曲线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0" y="3220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&gt;&gt; 多格式导出：CSV/Excel/PDF 一键输出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3472815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A2218"/>
                </a:solidFill>
                <a:latin typeface="微软雅黑" panose="020B0503020204020204" charset="-122"/>
              </a:defRPr>
            </a:pPr>
            <a:r>
              <a:t>&gt;&gt; 仿真框架：分层开关，脱机测试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120640"/>
            <a:ext cx="7772400" cy="1188720"/>
          </a:xfrm>
          <a:prstGeom prst="roundRect">
            <a:avLst/>
          </a:prstGeom>
          <a:solidFill>
            <a:srgbClr val="0C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120640"/>
            <a:ext cx="77724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2120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未来展望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5778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8E0D0"/>
                </a:solidFill>
                <a:latin typeface="微软雅黑" panose="020B0503020204020204" charset="-122"/>
              </a:defRPr>
            </a:pPr>
            <a:r>
              <a:t>架构演进：向云端化、Web/移动端发展 | 智能升级：引入机器学习预测材料不燃性等级 | 平台扩展：模块化架构兼容 ISO 1716 等更多测试标准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15320" y="411480"/>
            <a:ext cx="107188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汇报人：</a:t>
            </a:r>
            <a:r>
              <a:rPr lang="zh-CN"/>
              <a:t>王</a:t>
            </a:r>
            <a:r>
              <a:rPr lang="zh-CN"/>
              <a:t>家豪</a:t>
            </a:r>
            <a:endParaRPr lang="zh-C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8B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60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54864" cy="27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E8D5A3"/>
                </a:solidFill>
                <a:latin typeface="微软雅黑" panose="020B0503020204020204" charset="-122"/>
              </a:defRPr>
            </a:pPr>
            <a:r>
              <a:t>敬请各位老师批评指正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926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8B7D3C"/>
                </a:solidFill>
                <a:latin typeface="Arial" panose="020B0604020202020204"/>
              </a:defRPr>
            </a:pPr>
            <a:r>
              <a:t>Thank You for Your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3657600"/>
            <a:ext cx="274320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8B7D3C"/>
                </a:solidFill>
                <a:latin typeface="微软雅黑" panose="020B0503020204020204" charset="-122"/>
              </a:defRPr>
            </a:pPr>
            <a:r>
              <a:t>建筑材料不燃性实验自动化测控系统研究与实现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599305"/>
            <a:ext cx="9144000" cy="779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8E0D0"/>
                </a:solidFill>
                <a:latin typeface="微软雅黑" panose="020B0503020204020204" charset="-122"/>
              </a:defRPr>
            </a:pPr>
            <a:r>
              <a:t> 指导教师：肖斌教授</a:t>
            </a:r>
            <a:br/>
            <a:r>
              <a:t>西南石油大学 · 计算机与软件学院 · 软件工程202</a:t>
            </a:r>
            <a:r>
              <a:rPr lang="en-US"/>
              <a:t>4</a:t>
            </a:r>
            <a:r>
              <a:t>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1828800"/>
            <a:ext cx="2011680" cy="2743200"/>
          </a:xfrm>
          <a:prstGeom prst="roundRect">
            <a:avLst/>
          </a:prstGeom>
          <a:solidFill>
            <a:srgbClr val="15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0" y="1828800"/>
            <a:ext cx="20116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C9A84C"/>
                </a:solidFill>
                <a:latin typeface="Arial" panose="020B0604020202020204"/>
              </a:defRPr>
            </a:pPr>
            <a:r>
              <a:t>ISO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8D5A3"/>
                </a:solidFill>
                <a:latin typeface="Arial" panose="020B0604020202020204"/>
              </a:defRPr>
            </a:pPr>
            <a:r>
              <a:t>11820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75520" y="3108960"/>
            <a:ext cx="1463040" cy="18288"/>
          </a:xfrm>
          <a:prstGeom prst="rect">
            <a:avLst/>
          </a:prstGeom>
          <a:solidFill>
            <a:srgbClr val="8B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3291840"/>
            <a:ext cx="1828800" cy="53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8B7D3C"/>
                </a:solidFill>
                <a:latin typeface="Arial" panose="020B0604020202020204"/>
              </a:defRPr>
            </a:pPr>
            <a:r>
              <a:t>202</a:t>
            </a:r>
            <a:r>
              <a:rPr lang="en-US"/>
              <a:t>6</a:t>
            </a:r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0815320" y="182880"/>
            <a:ext cx="107188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汇报人：</a:t>
            </a:r>
            <a:r>
              <a:rPr lang="zh-CN"/>
              <a:t>王家豪</a:t>
            </a:r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7519</Words>
  <Application>WPS 演示</Application>
  <PresentationFormat>On-screen Show (4:3)</PresentationFormat>
  <Paragraphs>1052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4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37928</cp:lastModifiedBy>
  <cp:revision>2</cp:revision>
  <dcterms:created xsi:type="dcterms:W3CDTF">2013-01-27T09:14:00Z</dcterms:created>
  <dcterms:modified xsi:type="dcterms:W3CDTF">2026-07-03T11:39:32Z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AA9AFA7291F34FC18338B2A64CAA7046_12</vt:lpwstr>
  </property>
  <property fmtid="{D5CDD505-2E9C-101B-9397-08002B2CF9AE}" pid="3" name="KSOProductBuildVer">
    <vt:lpwstr>2052-12.8.2.17838</vt:lpwstr>
  </property>
</Properties>
</file>